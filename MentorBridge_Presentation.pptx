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9"/>
    <p:sldId id="265" r:id="rId11"/>
    <p:sldId id="266" r:id="rId12"/>
    <p:sldId id="269" r:id="rId20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  <Relationship Id="rId19" Type="http://schemas.openxmlformats.org/officeDocument/2006/relationships/slide" Target="slides/slide13.xml"/>
  <Relationship Id="rId20" Type="http://schemas.openxmlformats.org/officeDocument/2006/relationships/slide" Target="slides/slide14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Relationship Id="rId8" Type="http://schemas.openxmlformats.org/officeDocument/2006/relationships/image" Target="../media/image1.jpg"/><Relationship Id="rId9" Type="http://schemas.openxmlformats.org/officeDocument/2006/relationships/image" Target="../media/image2.jpg"/><Relationship Id="rId10" Type="http://schemas.openxmlformats.org/officeDocument/2006/relationships/image" Target="../media/image3.jpg"/><Relationship Id="rId11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8" Type="http://schemas.openxmlformats.org/officeDocument/2006/relationships/image" Target="../media/image5.jpg"/><Relationship Id="rId9" Type="http://schemas.openxmlformats.org/officeDocument/2006/relationships/image" Target="../media/image6.jpg"/><Relationship Id="rId10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955280" y="-1371600"/>
            <a:ext cx="6400800" cy="6400800"/>
          </a:xfrm>
          <a:prstGeom prst="rect">
            <a:avLst/>
          </a:prstGeom>
          <a:solidFill>
            <a:srgbClr val="0C4A6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-1828800" y="4754880"/>
            <a:ext cx="5486400" cy="5486400"/>
          </a:xfrm>
          <a:prstGeom prst="rect">
            <a:avLst/>
          </a:prstGeom>
          <a:solidFill>
            <a:srgbClr val="0C4A6E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DEVELOPMENT RELATIONSHIP SYSTEM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</a:t>
            </a:r>
            <a:pPr indent="0" marL="0">
              <a:buNone/>
            </a:pPr>
            <a:r>
              <a:rPr lang="en-US" sz="6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right mentee to the right mentor — then keeping the relationship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through sessions, actions, feedback and measurable outcomes.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6817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46817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MENTEES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46817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AREAS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46817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MATCHES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08 · Mentor Management System · Built by The Visionaries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Mentoring outgrew the spreadsheet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087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programme scales, expertise, availability, matching, bookings, attendance and outcomes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unmanageable through spreadsheets and informal messages.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0C4A6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233172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 build a booking system.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development relationship system.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8" name="Image 0" descr="Fi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4052621"/>
            <a:ext cx="307238" cy="30723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matching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9834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score — mentors are recommended with the reasons that led there.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9120" y="388620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2" name="Image 1" descr="Fi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541" y="40526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4340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that holds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343400" y="49834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is blocked or flagged the moment a mentor is over-allocated.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955280" y="388620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6" name="Image 2" descr="FiGit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1701" y="40526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90956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relationship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909560" y="49834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notes, agreed actions, feedback and outcomes — not just a calendar.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MENTORBRIDGE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roles, one relationship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2487168" cy="4023360"/>
          </a:xfrm>
          <a:prstGeom prst="roundRect">
            <a:avLst>
              <a:gd name="adj" fmla="val 33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0704" y="2084832"/>
            <a:ext cx="685800" cy="68580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6" name="Image 0" descr="Fi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012" y="2263140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8992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Mentee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78992" y="3364992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 mentor through explainable recommendations, requests sessions, tracks goals and actions.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20440" y="1783080"/>
            <a:ext cx="2487168" cy="4023360"/>
          </a:xfrm>
          <a:prstGeom prst="roundRect">
            <a:avLst>
              <a:gd name="adj" fmla="val 33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58184" y="2084832"/>
            <a:ext cx="685800" cy="68580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1" name="Image 1" descr="FiAw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492" y="226314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76472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776472" y="3364992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capacity, confirms sessions, records notes and guidance, gives structured feedback.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1783080"/>
            <a:ext cx="2487168" cy="4023360"/>
          </a:xfrm>
          <a:prstGeom prst="roundRect">
            <a:avLst>
              <a:gd name="adj" fmla="val 33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55664" y="2084832"/>
            <a:ext cx="685800" cy="68580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16" name="Image 2" descr="FiBarChart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972" y="226314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73952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 Admin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473952" y="3364992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and reassigns mentors, guards capacity, reports hours, no-shows and demand.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15400" y="1783080"/>
            <a:ext cx="2487168" cy="4023360"/>
          </a:xfrm>
          <a:prstGeom prst="roundRect">
            <a:avLst>
              <a:gd name="adj" fmla="val 33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53144" y="2084832"/>
            <a:ext cx="685800" cy="685800"/>
          </a:xfrm>
          <a:prstGeom prst="ellipse">
            <a:avLst/>
          </a:prstGeom>
          <a:solidFill>
            <a:srgbClr val="C084FC"/>
          </a:solidFill>
          <a:ln/>
        </p:spPr>
      </p:sp>
      <p:pic>
        <p:nvPicPr>
          <p:cNvPr id="21" name="Image 3" descr="Fi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452" y="226314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71432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 / Supervisor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9171432" y="3364992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oversight of matches, sessions, feedback and outcomes across the programme.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MENTORBRIDGE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 three-tier architecture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stable and explainable — every layer does one job.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3246120" cy="3383280"/>
          </a:xfrm>
          <a:prstGeom prst="roundRect">
            <a:avLst>
              <a:gd name="adj" fmla="val 253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21408" y="2395728"/>
            <a:ext cx="658368" cy="658368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7" name="Image 0" descr="Fi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2584" y="2566904"/>
            <a:ext cx="316017" cy="31601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51560" y="32004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 End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35661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3977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matching, dashboards, session and feedback screens for every role.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069080" y="342900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4453128" y="2103120"/>
            <a:ext cx="3246120" cy="3383280"/>
          </a:xfrm>
          <a:prstGeom prst="roundRect">
            <a:avLst>
              <a:gd name="adj" fmla="val 253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51576" y="2395728"/>
            <a:ext cx="658368" cy="658368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14" name="Image 1" descr="Fi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752" y="2566904"/>
            <a:ext cx="316017" cy="31601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81728" y="32004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681728" y="35661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· JWT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4773168" y="3977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call a service layer for matching, capacity, scheduling and reporting rules.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7699248" y="342900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5"/>
          <p:cNvSpPr/>
          <p:nvPr/>
        </p:nvSpPr>
        <p:spPr>
          <a:xfrm>
            <a:off x="8083296" y="2103120"/>
            <a:ext cx="3246120" cy="3383280"/>
          </a:xfrm>
          <a:prstGeom prst="roundRect">
            <a:avLst>
              <a:gd name="adj" fmla="val 253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381744" y="2395728"/>
            <a:ext cx="658368" cy="658368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21" name="Image 2" descr="Fi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2920" y="2566904"/>
            <a:ext cx="316017" cy="31601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311896" y="32004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8311896" y="35661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(better-sqlite3)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8403336" y="3977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tables: users, profiles, expertise, matches, sessions, actions, feedback, outcomes.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Render  ·  JSON REST API  ·  Bearer-token auth  ·  Role checks enforced server-side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MENTORBRIDGE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tables, one clear story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364992" cy="2788920"/>
          </a:xfrm>
          <a:prstGeom prst="roundRect">
            <a:avLst>
              <a:gd name="adj" fmla="val 2623"/>
            </a:avLst>
          </a:prstGeom>
          <a:solidFill>
            <a:srgbClr val="1E293B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286000"/>
            <a:ext cx="2834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mentors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mentees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1691640"/>
            <a:ext cx="3364992" cy="2788920"/>
          </a:xfrm>
          <a:prstGeom prst="roundRect">
            <a:avLst>
              <a:gd name="adj" fmla="val 2623"/>
            </a:avLst>
          </a:prstGeom>
          <a:solidFill>
            <a:srgbClr val="1E293B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916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286000"/>
            <a:ext cx="2834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expertise_categories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mentor_expertise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mentee_needs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availability_slots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364992" cy="2788920"/>
          </a:xfrm>
          <a:prstGeom prst="roundRect">
            <a:avLst>
              <a:gd name="adj" fmla="val 2623"/>
            </a:avLst>
          </a:prstGeom>
          <a:solidFill>
            <a:srgbClr val="1E293B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Relationship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286000"/>
            <a:ext cx="2834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feedback</a:t>
            </a:r>
            <a:endParaRPr lang="en-US" sz="12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709160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1621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470916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active match per mentee, enforced at the database level.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"Overdue" is never stored — it's computed from the due date every time an action is read, so it can never go stale.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MENTORBRIDGE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FEATURE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matching, not a black box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813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returns a score out of 100 — and the exact reasons behind it.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BREAKDOWN — 100 POINTS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match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46120" y="2468880"/>
            <a:ext cx="2468880" cy="201168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3246120" y="2468880"/>
            <a:ext cx="2468880" cy="201168"/>
          </a:xfrm>
          <a:prstGeom prst="roundRect">
            <a:avLst>
              <a:gd name="adj" fmla="val 18182"/>
            </a:avLst>
          </a:prstGeom>
          <a:solidFill>
            <a:srgbClr val="38BD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806440" y="24231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pts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900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overlap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46120" y="3035808"/>
            <a:ext cx="2468880" cy="201168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3246120" y="3035808"/>
            <a:ext cx="1234440" cy="201168"/>
          </a:xfrm>
          <a:prstGeom prst="roundRect">
            <a:avLst>
              <a:gd name="adj" fmla="val 18182"/>
            </a:avLst>
          </a:prstGeom>
          <a:solidFill>
            <a:srgbClr val="22C55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06440" y="29900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55701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language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46120" y="3602736"/>
            <a:ext cx="2468880" cy="201168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3246120" y="3602736"/>
            <a:ext cx="925830" cy="201168"/>
          </a:xfrm>
          <a:prstGeom prst="roundRect">
            <a:avLst>
              <a:gd name="adj" fmla="val 18182"/>
            </a:avLst>
          </a:prstGeom>
          <a:solidFill>
            <a:srgbClr val="FBBF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06440" y="355701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12394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/ location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46120" y="4169664"/>
            <a:ext cx="2468880" cy="201168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3246120" y="4169664"/>
            <a:ext cx="617220" cy="201168"/>
          </a:xfrm>
          <a:prstGeom prst="roundRect">
            <a:avLst>
              <a:gd name="adj" fmla="val 18182"/>
            </a:avLst>
          </a:prstGeom>
          <a:solidFill>
            <a:srgbClr val="C084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806440" y="41239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6908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capacity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46120" y="4736592"/>
            <a:ext cx="2468880" cy="201168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3246120" y="4736592"/>
            <a:ext cx="925830" cy="201168"/>
          </a:xfrm>
          <a:prstGeom prst="roundRect">
            <a:avLst>
              <a:gd name="adj" fmla="val 18182"/>
            </a:avLst>
          </a:prstGeom>
          <a:solidFill>
            <a:srgbClr val="F472B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806440" y="469087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086600" y="2057400"/>
            <a:ext cx="4251960" cy="4069080"/>
          </a:xfrm>
          <a:prstGeom prst="roundRect">
            <a:avLst>
              <a:gd name="adj" fmla="val 2247"/>
            </a:avLst>
          </a:prstGeom>
          <a:solidFill>
            <a:srgbClr val="1E293B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6092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360920" y="25420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Thandi Mokoena  </a:t>
            </a:r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76% match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360920" y="29443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Financial Manager · Nedbank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360920" y="338328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✓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Finance &amp; Funding (1 of 2 support areas)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✓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free on Tuesdays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✓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language: English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✓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Mentee is flexible on mode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✓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4 places free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360920" y="53949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are generated live from real profile data — never hard-coded.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MENTORBRIDGE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&amp; CAPACITY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you can trust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813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is never stored — it's derived from active matches every time, so it can't drift out of sync.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029200" cy="3840480"/>
          </a:xfrm>
          <a:prstGeom prst="roundRect">
            <a:avLst>
              <a:gd name="adj" fmla="val 238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2377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CAPACITY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697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Thandi Mokoena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43000" y="3291840"/>
            <a:ext cx="4297680" cy="320040"/>
          </a:xfrm>
          <a:prstGeom prst="roundRect">
            <a:avLst>
              <a:gd name="adj" fmla="val 17143"/>
            </a:avLst>
          </a:prstGeom>
          <a:solidFill>
            <a:srgbClr val="0F172A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3291840"/>
            <a:ext cx="4297680" cy="320040"/>
          </a:xfrm>
          <a:prstGeom prst="roundRect">
            <a:avLst>
              <a:gd name="adj" fmla="val 17143"/>
            </a:avLst>
          </a:prstGeom>
          <a:solidFill>
            <a:srgbClr val="F8717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3703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 mentees — AT CAPACITY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143000" y="4251960"/>
            <a:ext cx="4297680" cy="1508760"/>
          </a:xfrm>
          <a:prstGeom prst="roundRect">
            <a:avLst>
              <a:gd name="adj" fmla="val 4848"/>
            </a:avLst>
          </a:prstGeom>
          <a:solidFill>
            <a:srgbClr val="16213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71600" y="43891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  capacity_reached
</a:t>
            </a:r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"Thandi is at capacity (2/2). Send override:true with an override_reason to assign anyway."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2176272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2075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Blocked by default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45059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past capacity returns an error — no silent over-allocation.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38328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32826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override, with a reason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6576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admin can assign anyway, but only with a written justification that's stored on the match.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590288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44897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reassignment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86460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reassignment fails, the mentee's original match stays active — nothing is left half-changed.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MENTORBRIDGE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CALENDAR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mentoring loop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813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"development relationship system" means in practice.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16352" y="2880360"/>
            <a:ext cx="256032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472184" y="2514600"/>
            <a:ext cx="694944" cy="694944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7" name="Image 0" descr="Fi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2869" y="2695285"/>
            <a:ext cx="333573" cy="33357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84248" y="2999232"/>
            <a:ext cx="320040" cy="320040"/>
          </a:xfrm>
          <a:prstGeom prst="ellipse">
            <a:avLst/>
          </a:prstGeom>
          <a:solidFill>
            <a:srgbClr val="F8FA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2900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822192"/>
            <a:ext cx="19933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→ confirmed → completed. Overlaps are rejected automatically.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5065776" y="2880360"/>
            <a:ext cx="256032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3721608" y="2514600"/>
            <a:ext cx="694944" cy="694944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13" name="Image 1" descr="Fi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293" y="2695285"/>
            <a:ext cx="333573" cy="33357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233672" y="2999232"/>
            <a:ext cx="320040" cy="320040"/>
          </a:xfrm>
          <a:prstGeom prst="ellipse">
            <a:avLst/>
          </a:prstGeom>
          <a:solidFill>
            <a:srgbClr val="F8FA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072384" y="342900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072384" y="3822192"/>
            <a:ext cx="19933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duration, focus and guidance recorded by the mentor.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7315200" y="2880360"/>
            <a:ext cx="256032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5971032" y="2514600"/>
            <a:ext cx="694944" cy="694944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9" name="Image 2" descr="Fi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717" y="2695285"/>
            <a:ext cx="333573" cy="33357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83096" y="2999232"/>
            <a:ext cx="320040" cy="320040"/>
          </a:xfrm>
          <a:prstGeom prst="ellipse">
            <a:avLst/>
          </a:prstGeom>
          <a:solidFill>
            <a:srgbClr val="F8FA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321808" y="342900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5321808" y="3822192"/>
            <a:ext cx="19933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next steps with an owner and due date — auto-flagged overdue.</a:t>
            </a:r>
            <a:endParaRPr lang="en-US" sz="1080" dirty="0"/>
          </a:p>
        </p:txBody>
      </p:sp>
      <p:sp>
        <p:nvSpPr>
          <p:cNvPr id="23" name="Shape 18"/>
          <p:cNvSpPr/>
          <p:nvPr/>
        </p:nvSpPr>
        <p:spPr>
          <a:xfrm>
            <a:off x="9564624" y="2880360"/>
            <a:ext cx="256032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dash"/>
          </a:ln>
        </p:spPr>
      </p:sp>
      <p:sp>
        <p:nvSpPr>
          <p:cNvPr id="24" name="Shape 19"/>
          <p:cNvSpPr/>
          <p:nvPr/>
        </p:nvSpPr>
        <p:spPr>
          <a:xfrm>
            <a:off x="8220456" y="2514600"/>
            <a:ext cx="694944" cy="694944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25" name="Image 3" descr="FiMessageSqu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141" y="2695285"/>
            <a:ext cx="333573" cy="33357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732520" y="2999232"/>
            <a:ext cx="320040" cy="320040"/>
          </a:xfrm>
          <a:prstGeom prst="ellipse">
            <a:avLst/>
          </a:prstGeom>
          <a:solidFill>
            <a:srgbClr val="F8FA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7571232" y="342900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7571232" y="3822192"/>
            <a:ext cx="19933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ratings from both mentor and mentee, one per session.</a:t>
            </a:r>
            <a:endParaRPr lang="en-US" sz="1080" dirty="0"/>
          </a:p>
        </p:txBody>
      </p:sp>
      <p:sp>
        <p:nvSpPr>
          <p:cNvPr id="29" name="Shape 23"/>
          <p:cNvSpPr/>
          <p:nvPr/>
        </p:nvSpPr>
        <p:spPr>
          <a:xfrm>
            <a:off x="10469880" y="2514600"/>
            <a:ext cx="694944" cy="694944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30" name="Image 4" descr="FiTrendingU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0565" y="2695285"/>
            <a:ext cx="333573" cy="33357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0981944" y="2999232"/>
            <a:ext cx="320040" cy="320040"/>
          </a:xfrm>
          <a:prstGeom prst="ellipse">
            <a:avLst/>
          </a:prstGeom>
          <a:solidFill>
            <a:srgbClr val="F8FA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9820656" y="342900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9820656" y="3822192"/>
            <a:ext cx="19933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development milestones linked back to the relationship.</a:t>
            </a:r>
            <a:endParaRPr lang="en-US" sz="1080" dirty="0"/>
          </a:p>
        </p:txBody>
      </p:sp>
      <p:sp>
        <p:nvSpPr>
          <p:cNvPr id="34" name="Shape 27"/>
          <p:cNvSpPr/>
          <p:nvPr/>
        </p:nvSpPr>
        <p:spPr>
          <a:xfrm>
            <a:off x="822960" y="5623560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1621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1097280" y="562356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a bare calendar entry — every session carries the record that turns a meeting into progress.</a:t>
            </a:r>
            <a:endParaRPr lang="en-US" sz="1250" dirty="0"/>
          </a:p>
        </p:txBody>
      </p:sp>
      <p:sp>
        <p:nvSpPr>
          <p:cNvPr id="36" name="Text 2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MENTORBRIDGE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dashboard for every role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401568" cy="4160520"/>
          </a:xfrm>
          <a:prstGeom prst="roundRect">
            <a:avLst>
              <a:gd name="adj" fmla="val 241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011680"/>
            <a:ext cx="566928" cy="566928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6" name="Image 0" descr="Fi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681" y="21590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Mentee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097280" y="2743200"/>
            <a:ext cx="2880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97280" y="2926080"/>
            <a:ext cx="28803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mentor &amp; goals</a:t>
            </a:r>
            <a:endParaRPr lang="en-US" sz="12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&amp; past sessions</a:t>
            </a:r>
            <a:endParaRPr lang="en-US" sz="12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&amp; completion %</a:t>
            </a:r>
            <a:endParaRPr lang="en-US" sz="12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achieved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1737360"/>
            <a:ext cx="3401568" cy="4160520"/>
          </a:xfrm>
          <a:prstGeom prst="roundRect">
            <a:avLst>
              <a:gd name="adj" fmla="val 241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011680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2" name="Image 1" descr="FiAw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561" y="215908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4068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4709160" y="2743200"/>
            <a:ext cx="2880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709160" y="2926080"/>
            <a:ext cx="28803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&amp; mentees</a:t>
            </a:r>
            <a:endParaRPr lang="en-US" sz="12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(total &amp; monthly)</a:t>
            </a:r>
            <a:endParaRPr lang="en-US" sz="12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actions</a:t>
            </a:r>
            <a:endParaRPr lang="en-US" sz="12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received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46720" y="1737360"/>
            <a:ext cx="3401568" cy="4160520"/>
          </a:xfrm>
          <a:prstGeom prst="roundRect">
            <a:avLst>
              <a:gd name="adj" fmla="val 241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21040" y="2011680"/>
            <a:ext cx="566928" cy="566928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18" name="Image 2" descr="FiBarChart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441" y="2159081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5256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900" dirty="0"/>
          </a:p>
        </p:txBody>
      </p:sp>
      <p:sp>
        <p:nvSpPr>
          <p:cNvPr id="20" name="Shape 15"/>
          <p:cNvSpPr/>
          <p:nvPr/>
        </p:nvSpPr>
        <p:spPr>
          <a:xfrm>
            <a:off x="8321040" y="2743200"/>
            <a:ext cx="2880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321040" y="2926080"/>
            <a:ext cx="28803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Hours, sessions, no-shows</a:t>
            </a:r>
            <a:endParaRPr lang="en-US" sz="12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expertise vs supply</a:t>
            </a:r>
            <a:endParaRPr lang="en-US" sz="12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mentees</a:t>
            </a:r>
            <a:endParaRPr lang="en-US" sz="12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Stalled relationships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MENTORBRIDGE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numbers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19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64992" y="164592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64992" y="1719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364992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MENTEES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07024" y="164592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07024" y="1719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907024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AREAS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449056" y="164592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49056" y="1719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449056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MATCHES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" y="288036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29535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 SESSIONS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64992" y="288036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64992" y="29535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3364992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SESSIONS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07024" y="288036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07024" y="29535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5907024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449056" y="288036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49056" y="29535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8449056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RECORDS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2960" y="4297680"/>
            <a:ext cx="10515600" cy="1783080"/>
          </a:xfrm>
          <a:prstGeom prst="roundRect">
            <a:avLst>
              <a:gd name="adj" fmla="val 4615"/>
            </a:avLst>
          </a:prstGeom>
          <a:solidFill>
            <a:srgbClr val="1621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9728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4846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Node.js + Express  </a:t>
            </a:r>
            <a:pPr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SQLite  </a:t>
            </a:r>
            <a:pPr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JWT auth  </a:t>
            </a:r>
            <a:pPr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HTML / CSS / JS  </a:t>
            </a:r>
            <a:pPr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REST API  </a:t>
            </a:r>
            <a:pPr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Render hosting  </a:t>
            </a:r>
            <a:pPr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Git + GitHub  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MENTORBRIDGE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Visionaries</a:t>
            </a:r>
            <a:endParaRPr lang="en-US" sz="3200" dirty="0"/>
          </a:p>
        </p:txBody>
      </p:sp>
      <p:sp>
        <p:nvSpPr>
          <p:cNvPr id="29" name="Text 2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MENTORBRIDGE</a:t>
            </a:r>
            <a:endParaRPr lang="en-US" sz="1000" dirty="0"/>
          </a:p>
        </p:txBody>
      </p:sp>
      <p:sp>
        <p:nvSpPr>
          <p:cNvPr id="31" name="TextBox 30"/>
          <p:cNvSpPr txBox="1"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The people behind MentorBridge.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2286000"/>
            <a:ext cx="2457450" cy="3291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11605" y="2514600"/>
            <a:ext cx="1280160" cy="128016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hoto Matete" descr="Portrait of Matet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7325" y="2560320"/>
            <a:ext cx="1188720" cy="1188720"/>
          </a:xfrm>
          <a:prstGeom prst="ellipse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14400" y="3977640"/>
            <a:ext cx="227457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Cambria"/>
              </a:rPr>
              <a:t>Matete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343400"/>
            <a:ext cx="227457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Front-End Lead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807640"/>
            <a:ext cx="218313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UI, portal navigation, layouts and responsive styling.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09010" y="2286000"/>
            <a:ext cx="2457450" cy="3291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097655" y="2514600"/>
            <a:ext cx="1280160" cy="128016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hoto Lerato" descr="Portrait of Lerat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43375" y="2560320"/>
            <a:ext cx="1188720" cy="1188720"/>
          </a:xfrm>
          <a:prstGeom prst="ellipse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600450" y="3977640"/>
            <a:ext cx="227457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Cambria"/>
              </a:rPr>
              <a:t>Lerato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00450" y="4343400"/>
            <a:ext cx="227457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Matching Engine Lead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46170" y="4807640"/>
            <a:ext cx="218313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Weighted matching algorithm and explainable scoring.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5060" y="2286000"/>
            <a:ext cx="2457450" cy="3291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83705" y="2514600"/>
            <a:ext cx="1280160" cy="128016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hoto Leah" descr="Portrait of Leah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29425" y="2560320"/>
            <a:ext cx="1188720" cy="1188720"/>
          </a:xfrm>
          <a:prstGeom prst="ellipse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286500" y="3977640"/>
            <a:ext cx="227457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Cambria"/>
              </a:rPr>
              <a:t>Leah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6500" y="4343400"/>
            <a:ext cx="227457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QA &amp; Hosting Lead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2220" y="4807640"/>
            <a:ext cx="218313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Deployment, live demo hosting, testing and bug fixing.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81110" y="2286000"/>
            <a:ext cx="2457450" cy="3291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469755" y="2514600"/>
            <a:ext cx="1280160" cy="128016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hoto Phenyo" descr="Portrait of Phenyo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15475" y="2560320"/>
            <a:ext cx="1188720" cy="1188720"/>
          </a:xfrm>
          <a:prstGeom prst="ellipse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972550" y="3977640"/>
            <a:ext cx="227457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Cambria"/>
              </a:rPr>
              <a:t>Phenyo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72550" y="4343400"/>
            <a:ext cx="227457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Dashboards &amp; Reporting Developer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18270" y="4807640"/>
            <a:ext cx="218313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Live analytics: hours, no-shows, capacity and admin reports.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955280" y="-1371600"/>
            <a:ext cx="6400800" cy="6400800"/>
          </a:xfrm>
          <a:prstGeom prst="rect">
            <a:avLst/>
          </a:prstGeom>
          <a:solidFill>
            <a:srgbClr val="0C4A6E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good intentions
</a:t>
            </a:r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structured development.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217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MentorBridge  ·  Challenge 08  ·  The Visionaries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mentor pricing</a:t>
            </a:r>
            <a:endParaRPr lang="en-US" sz="3200" dirty="0"/>
          </a:p>
        </p:txBody>
      </p:sp>
      <p:sp>
        <p:nvSpPr>
          <p:cNvPr id="29" name="Text 2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MENTORBRIDGE</a:t>
            </a:r>
            <a:endParaRPr lang="en-US" sz="1000" dirty="0"/>
          </a:p>
        </p:txBody>
      </p:sp>
      <p:sp>
        <p:nvSpPr>
          <p:cNvPr id="31" name="TextBox 30"/>
          <p:cNvSpPr txBox="1"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Every mentor card shows an hourly rate in rand, so mentees can weigh cost alongside the match score.</a:t>
            </a:r>
          </a:p>
        </p:txBody>
      </p:sp>
      <p:sp>
        <p:nvSpPr>
          <p:cNvPr id="201" name="Card 201"/>
          <p:cNvSpPr/>
          <p:nvPr/>
        </p:nvSpPr>
        <p:spPr>
          <a:xfrm>
            <a:off x="822960" y="2057400"/>
            <a:ext cx="5181600" cy="640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2" name="TextBox 202"/>
          <p:cNvSpPr txBox="1"/>
          <p:nvPr/>
        </p:nvSpPr>
        <p:spPr>
          <a:xfrm>
            <a:off x="1005840" y="2148840"/>
            <a:ext cx="3300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en-US" sz="1400" b="1">
                <a:solidFill>
                  <a:srgbClr val="F8FAFC"/>
                </a:solidFill>
                <a:latin typeface="Cambria"/>
              </a:rPr>
              <a:t>Johan Botha</a:t>
            </a:r>
          </a:p>
        </p:txBody>
      </p:sp>
      <p:sp>
        <p:nvSpPr>
          <p:cNvPr id="203" name="TextBox 203"/>
          <p:cNvSpPr txBox="1"/>
          <p:nvPr/>
        </p:nvSpPr>
        <p:spPr>
          <a:xfrm>
            <a:off x="1005840" y="2423160"/>
            <a:ext cx="35000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en-US" sz="1000" b="0">
                <a:solidFill>
                  <a:srgbClr val="94A3B8"/>
                </a:solidFill>
                <a:latin typeface="Calibri"/>
              </a:rPr>
              <a:t>Founder &amp; CFO · Cape Agri Group</a:t>
            </a:r>
          </a:p>
        </p:txBody>
      </p:sp>
      <p:sp>
        <p:nvSpPr>
          <p:cNvPr id="204" name="TextBox 204"/>
          <p:cNvSpPr txBox="1"/>
          <p:nvPr/>
        </p:nvSpPr>
        <p:spPr>
          <a:xfrm>
            <a:off x="4358560" y="205740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lang="en-US" sz="1600" b="1">
                <a:solidFill>
                  <a:srgbClr val="38BDF8"/>
                </a:solidFill>
                <a:latin typeface="Calibri"/>
              </a:rPr>
              <a:t>R850 / hour</a:t>
            </a:r>
          </a:p>
        </p:txBody>
      </p:sp>
      <p:sp>
        <p:nvSpPr>
          <p:cNvPr id="205" name="Card 205"/>
          <p:cNvSpPr/>
          <p:nvPr/>
        </p:nvSpPr>
        <p:spPr>
          <a:xfrm>
            <a:off x="822960" y="2788920"/>
            <a:ext cx="5181600" cy="640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6" name="TextBox 206"/>
          <p:cNvSpPr txBox="1"/>
          <p:nvPr/>
        </p:nvSpPr>
        <p:spPr>
          <a:xfrm>
            <a:off x="1005840" y="2880360"/>
            <a:ext cx="3300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en-US" sz="1400" b="1">
                <a:solidFill>
                  <a:srgbClr val="F8FAFC"/>
                </a:solidFill>
                <a:latin typeface="Cambria"/>
              </a:rPr>
              <a:t>Ayesha Patel</a:t>
            </a:r>
          </a:p>
        </p:txBody>
      </p:sp>
      <p:sp>
        <p:nvSpPr>
          <p:cNvPr id="207" name="TextBox 207"/>
          <p:cNvSpPr txBox="1"/>
          <p:nvPr/>
        </p:nvSpPr>
        <p:spPr>
          <a:xfrm>
            <a:off x="1005840" y="3154680"/>
            <a:ext cx="35000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en-US" sz="1000" b="0">
                <a:solidFill>
                  <a:srgbClr val="94A3B8"/>
                </a:solidFill>
                <a:latin typeface="Calibri"/>
              </a:rPr>
              <a:t>Corporate Lawyer · Bowmans</a:t>
            </a:r>
          </a:p>
        </p:txBody>
      </p:sp>
      <p:sp>
        <p:nvSpPr>
          <p:cNvPr id="208" name="TextBox 208"/>
          <p:cNvSpPr txBox="1"/>
          <p:nvPr/>
        </p:nvSpPr>
        <p:spPr>
          <a:xfrm>
            <a:off x="4358560" y="278892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lang="en-US" sz="1600" b="1">
                <a:solidFill>
                  <a:srgbClr val="38BDF8"/>
                </a:solidFill>
                <a:latin typeface="Calibri"/>
              </a:rPr>
              <a:t>R800 / hour</a:t>
            </a:r>
          </a:p>
        </p:txBody>
      </p:sp>
      <p:sp>
        <p:nvSpPr>
          <p:cNvPr id="209" name="Card 209"/>
          <p:cNvSpPr/>
          <p:nvPr/>
        </p:nvSpPr>
        <p:spPr>
          <a:xfrm>
            <a:off x="822960" y="3520440"/>
            <a:ext cx="5181600" cy="640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0" name="TextBox 210"/>
          <p:cNvSpPr txBox="1"/>
          <p:nvPr/>
        </p:nvSpPr>
        <p:spPr>
          <a:xfrm>
            <a:off x="1005840" y="3611880"/>
            <a:ext cx="3300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en-US" sz="1400" b="1">
                <a:solidFill>
                  <a:srgbClr val="F8FAFC"/>
                </a:solidFill>
                <a:latin typeface="Cambria"/>
              </a:rPr>
              <a:t>Pieter van der Merwe</a:t>
            </a:r>
          </a:p>
        </p:txBody>
      </p:sp>
      <p:sp>
        <p:nvSpPr>
          <p:cNvPr id="211" name="TextBox 211"/>
          <p:cNvSpPr txBox="1"/>
          <p:nvPr/>
        </p:nvSpPr>
        <p:spPr>
          <a:xfrm>
            <a:off x="1005840" y="3886200"/>
            <a:ext cx="35000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en-US" sz="1000" b="0">
                <a:solidFill>
                  <a:srgbClr val="94A3B8"/>
                </a:solidFill>
                <a:latin typeface="Calibri"/>
              </a:rPr>
              <a:t>Supply Chain Director · Barloworld</a:t>
            </a:r>
          </a:p>
        </p:txBody>
      </p:sp>
      <p:sp>
        <p:nvSpPr>
          <p:cNvPr id="212" name="TextBox 212"/>
          <p:cNvSpPr txBox="1"/>
          <p:nvPr/>
        </p:nvSpPr>
        <p:spPr>
          <a:xfrm>
            <a:off x="4358560" y="352044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lang="en-US" sz="1600" b="1">
                <a:solidFill>
                  <a:srgbClr val="38BDF8"/>
                </a:solidFill>
                <a:latin typeface="Calibri"/>
              </a:rPr>
              <a:t>R750 / hour</a:t>
            </a:r>
          </a:p>
        </p:txBody>
      </p:sp>
      <p:sp>
        <p:nvSpPr>
          <p:cNvPr id="213" name="Card 213"/>
          <p:cNvSpPr/>
          <p:nvPr/>
        </p:nvSpPr>
        <p:spPr>
          <a:xfrm>
            <a:off x="822960" y="4251960"/>
            <a:ext cx="5181600" cy="640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4" name="TextBox 214"/>
          <p:cNvSpPr txBox="1"/>
          <p:nvPr/>
        </p:nvSpPr>
        <p:spPr>
          <a:xfrm>
            <a:off x="1005840" y="4343400"/>
            <a:ext cx="3300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en-US" sz="1400" b="1">
                <a:solidFill>
                  <a:srgbClr val="F8FAFC"/>
                </a:solidFill>
                <a:latin typeface="Cambria"/>
              </a:rPr>
              <a:t>Michael Naidoo</a:t>
            </a:r>
          </a:p>
        </p:txBody>
      </p:sp>
      <p:sp>
        <p:nvSpPr>
          <p:cNvPr id="215" name="TextBox 215"/>
          <p:cNvSpPr txBox="1"/>
          <p:nvPr/>
        </p:nvSpPr>
        <p:spPr>
          <a:xfrm>
            <a:off x="1005840" y="4617720"/>
            <a:ext cx="35000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en-US" sz="1000" b="0">
                <a:solidFill>
                  <a:srgbClr val="94A3B8"/>
                </a:solidFill>
                <a:latin typeface="Calibri"/>
              </a:rPr>
              <a:t>Strategy Consultant · Deloitte</a:t>
            </a:r>
          </a:p>
        </p:txBody>
      </p:sp>
      <p:sp>
        <p:nvSpPr>
          <p:cNvPr id="216" name="TextBox 216"/>
          <p:cNvSpPr txBox="1"/>
          <p:nvPr/>
        </p:nvSpPr>
        <p:spPr>
          <a:xfrm>
            <a:off x="4358560" y="425196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lang="en-US" sz="1600" b="1">
                <a:solidFill>
                  <a:srgbClr val="38BDF8"/>
                </a:solidFill>
                <a:latin typeface="Calibri"/>
              </a:rPr>
              <a:t>R700 / hour</a:t>
            </a:r>
          </a:p>
        </p:txBody>
      </p:sp>
      <p:sp>
        <p:nvSpPr>
          <p:cNvPr id="217" name="Card 217"/>
          <p:cNvSpPr/>
          <p:nvPr/>
        </p:nvSpPr>
        <p:spPr>
          <a:xfrm>
            <a:off x="822960" y="4983480"/>
            <a:ext cx="5181600" cy="640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8" name="TextBox 218"/>
          <p:cNvSpPr txBox="1"/>
          <p:nvPr/>
        </p:nvSpPr>
        <p:spPr>
          <a:xfrm>
            <a:off x="1005840" y="5074920"/>
            <a:ext cx="3300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en-US" sz="1400" b="1">
                <a:solidFill>
                  <a:srgbClr val="F8FAFC"/>
                </a:solidFill>
                <a:latin typeface="Cambria"/>
              </a:rPr>
              <a:t>Thandi Mokoena</a:t>
            </a:r>
          </a:p>
        </p:txBody>
      </p:sp>
      <p:sp>
        <p:nvSpPr>
          <p:cNvPr id="219" name="TextBox 219"/>
          <p:cNvSpPr txBox="1"/>
          <p:nvPr/>
        </p:nvSpPr>
        <p:spPr>
          <a:xfrm>
            <a:off x="1005840" y="5349240"/>
            <a:ext cx="35000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en-US" sz="1000" b="0">
                <a:solidFill>
                  <a:srgbClr val="94A3B8"/>
                </a:solidFill>
                <a:latin typeface="Calibri"/>
              </a:rPr>
              <a:t>Senior Financial Manager · Nedbank</a:t>
            </a:r>
          </a:p>
        </p:txBody>
      </p:sp>
      <p:sp>
        <p:nvSpPr>
          <p:cNvPr id="220" name="TextBox 220"/>
          <p:cNvSpPr txBox="1"/>
          <p:nvPr/>
        </p:nvSpPr>
        <p:spPr>
          <a:xfrm>
            <a:off x="4358560" y="49834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lang="en-US" sz="1600" b="1">
                <a:solidFill>
                  <a:srgbClr val="38BDF8"/>
                </a:solidFill>
                <a:latin typeface="Calibri"/>
              </a:rPr>
              <a:t>R650 / hour</a:t>
            </a:r>
          </a:p>
        </p:txBody>
      </p:sp>
      <p:sp>
        <p:nvSpPr>
          <p:cNvPr id="221" name="Card 221"/>
          <p:cNvSpPr/>
          <p:nvPr/>
        </p:nvSpPr>
        <p:spPr>
          <a:xfrm>
            <a:off x="6187440" y="2057400"/>
            <a:ext cx="5181600" cy="640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2" name="TextBox 222"/>
          <p:cNvSpPr txBox="1"/>
          <p:nvPr/>
        </p:nvSpPr>
        <p:spPr>
          <a:xfrm>
            <a:off x="6370320" y="2148840"/>
            <a:ext cx="3300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en-US" sz="1400" b="1">
                <a:solidFill>
                  <a:srgbClr val="F8FAFC"/>
                </a:solidFill>
                <a:latin typeface="Cambria"/>
              </a:rPr>
              <a:t>Sipho Dlamini</a:t>
            </a:r>
          </a:p>
        </p:txBody>
      </p:sp>
      <p:sp>
        <p:nvSpPr>
          <p:cNvPr id="223" name="TextBox 223"/>
          <p:cNvSpPr txBox="1"/>
          <p:nvPr/>
        </p:nvSpPr>
        <p:spPr>
          <a:xfrm>
            <a:off x="6370320" y="2423160"/>
            <a:ext cx="35000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en-US" sz="1000" b="0">
                <a:solidFill>
                  <a:srgbClr val="94A3B8"/>
                </a:solidFill>
                <a:latin typeface="Calibri"/>
              </a:rPr>
              <a:t>Engineering Manager · Discovery</a:t>
            </a:r>
          </a:p>
        </p:txBody>
      </p:sp>
      <p:sp>
        <p:nvSpPr>
          <p:cNvPr id="224" name="TextBox 224"/>
          <p:cNvSpPr txBox="1"/>
          <p:nvPr/>
        </p:nvSpPr>
        <p:spPr>
          <a:xfrm>
            <a:off x="9723040" y="205740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lang="en-US" sz="1600" b="1">
                <a:solidFill>
                  <a:srgbClr val="38BDF8"/>
                </a:solidFill>
                <a:latin typeface="Calibri"/>
              </a:rPr>
              <a:t>R550 / hour</a:t>
            </a:r>
          </a:p>
        </p:txBody>
      </p:sp>
      <p:sp>
        <p:nvSpPr>
          <p:cNvPr id="225" name="Card 225"/>
          <p:cNvSpPr/>
          <p:nvPr/>
        </p:nvSpPr>
        <p:spPr>
          <a:xfrm>
            <a:off x="6187440" y="2788920"/>
            <a:ext cx="5181600" cy="640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6" name="TextBox 226"/>
          <p:cNvSpPr txBox="1"/>
          <p:nvPr/>
        </p:nvSpPr>
        <p:spPr>
          <a:xfrm>
            <a:off x="6370320" y="2880360"/>
            <a:ext cx="3300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en-US" sz="1400" b="1">
                <a:solidFill>
                  <a:srgbClr val="F8FAFC"/>
                </a:solidFill>
                <a:latin typeface="Cambria"/>
              </a:rPr>
              <a:t>Lerato Molefe</a:t>
            </a:r>
          </a:p>
        </p:txBody>
      </p:sp>
      <p:sp>
        <p:nvSpPr>
          <p:cNvPr id="227" name="TextBox 227"/>
          <p:cNvSpPr txBox="1"/>
          <p:nvPr/>
        </p:nvSpPr>
        <p:spPr>
          <a:xfrm>
            <a:off x="6370320" y="3154680"/>
            <a:ext cx="35000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en-US" sz="1000" b="0">
                <a:solidFill>
                  <a:srgbClr val="94A3B8"/>
                </a:solidFill>
                <a:latin typeface="Calibri"/>
              </a:rPr>
              <a:t>HR &amp; Talent Executive · Sasol</a:t>
            </a:r>
          </a:p>
        </p:txBody>
      </p:sp>
      <p:sp>
        <p:nvSpPr>
          <p:cNvPr id="228" name="TextBox 228"/>
          <p:cNvSpPr txBox="1"/>
          <p:nvPr/>
        </p:nvSpPr>
        <p:spPr>
          <a:xfrm>
            <a:off x="9723040" y="278892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lang="en-US" sz="1600" b="1">
                <a:solidFill>
                  <a:srgbClr val="38BDF8"/>
                </a:solidFill>
                <a:latin typeface="Calibri"/>
              </a:rPr>
              <a:t>R500 / hour</a:t>
            </a:r>
          </a:p>
        </p:txBody>
      </p:sp>
      <p:sp>
        <p:nvSpPr>
          <p:cNvPr id="229" name="Card 229"/>
          <p:cNvSpPr/>
          <p:nvPr/>
        </p:nvSpPr>
        <p:spPr>
          <a:xfrm>
            <a:off x="6187440" y="3520440"/>
            <a:ext cx="5181600" cy="640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0" name="TextBox 230"/>
          <p:cNvSpPr txBox="1"/>
          <p:nvPr/>
        </p:nvSpPr>
        <p:spPr>
          <a:xfrm>
            <a:off x="6370320" y="3611880"/>
            <a:ext cx="3300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en-US" sz="1400" b="1">
                <a:solidFill>
                  <a:srgbClr val="F8FAFC"/>
                </a:solidFill>
                <a:latin typeface="Cambria"/>
              </a:rPr>
              <a:t>Naledi Sithole</a:t>
            </a:r>
          </a:p>
        </p:txBody>
      </p:sp>
      <p:sp>
        <p:nvSpPr>
          <p:cNvPr id="231" name="TextBox 231"/>
          <p:cNvSpPr txBox="1"/>
          <p:nvPr/>
        </p:nvSpPr>
        <p:spPr>
          <a:xfrm>
            <a:off x="6370320" y="3886200"/>
            <a:ext cx="35000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en-US" sz="1000" b="0">
                <a:solidFill>
                  <a:srgbClr val="94A3B8"/>
                </a:solidFill>
                <a:latin typeface="Calibri"/>
              </a:rPr>
              <a:t>Head of Marketing · Takealot</a:t>
            </a:r>
          </a:p>
        </p:txBody>
      </p:sp>
      <p:sp>
        <p:nvSpPr>
          <p:cNvPr id="232" name="TextBox 232"/>
          <p:cNvSpPr txBox="1"/>
          <p:nvPr/>
        </p:nvSpPr>
        <p:spPr>
          <a:xfrm>
            <a:off x="9723040" y="352044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lang="en-US" sz="1600" b="1">
                <a:solidFill>
                  <a:srgbClr val="38BDF8"/>
                </a:solidFill>
                <a:latin typeface="Calibri"/>
              </a:rPr>
              <a:t>R450 / hour</a:t>
            </a:r>
          </a:p>
        </p:txBody>
      </p:sp>
      <p:sp>
        <p:nvSpPr>
          <p:cNvPr id="233" name="Card 233"/>
          <p:cNvSpPr/>
          <p:nvPr/>
        </p:nvSpPr>
        <p:spPr>
          <a:xfrm>
            <a:off x="6187440" y="4251960"/>
            <a:ext cx="5181600" cy="640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4" name="TextBox 234"/>
          <p:cNvSpPr txBox="1"/>
          <p:nvPr/>
        </p:nvSpPr>
        <p:spPr>
          <a:xfrm>
            <a:off x="6370320" y="4343400"/>
            <a:ext cx="3300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en-US" sz="1400" b="1">
                <a:solidFill>
                  <a:srgbClr val="F8FAFC"/>
                </a:solidFill>
                <a:latin typeface="Cambria"/>
              </a:rPr>
              <a:t>Zanele Khumalo</a:t>
            </a:r>
          </a:p>
        </p:txBody>
      </p:sp>
      <p:sp>
        <p:nvSpPr>
          <p:cNvPr id="235" name="TextBox 235"/>
          <p:cNvSpPr txBox="1"/>
          <p:nvPr/>
        </p:nvSpPr>
        <p:spPr>
          <a:xfrm>
            <a:off x="6370320" y="4617720"/>
            <a:ext cx="35000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en-US" sz="1000" b="0">
                <a:solidFill>
                  <a:srgbClr val="94A3B8"/>
                </a:solidFill>
                <a:latin typeface="Calibri"/>
              </a:rPr>
              <a:t>Digital Growth Lead · Yoco</a:t>
            </a:r>
          </a:p>
        </p:txBody>
      </p:sp>
      <p:sp>
        <p:nvSpPr>
          <p:cNvPr id="236" name="TextBox 236"/>
          <p:cNvSpPr txBox="1"/>
          <p:nvPr/>
        </p:nvSpPr>
        <p:spPr>
          <a:xfrm>
            <a:off x="9723040" y="425196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lang="en-US" sz="1600" b="1">
                <a:solidFill>
                  <a:srgbClr val="38BDF8"/>
                </a:solidFill>
                <a:latin typeface="Calibri"/>
              </a:rPr>
              <a:t>R350 / hour</a:t>
            </a:r>
          </a:p>
        </p:txBody>
      </p:sp>
      <p:sp>
        <p:nvSpPr>
          <p:cNvPr id="237" name="Card 237"/>
          <p:cNvSpPr/>
          <p:nvPr/>
        </p:nvSpPr>
        <p:spPr>
          <a:xfrm>
            <a:off x="6187440" y="4983480"/>
            <a:ext cx="5181600" cy="640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8" name="TextBox 238"/>
          <p:cNvSpPr txBox="1"/>
          <p:nvPr/>
        </p:nvSpPr>
        <p:spPr>
          <a:xfrm>
            <a:off x="6370320" y="5074920"/>
            <a:ext cx="3300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en-US" sz="1400" b="1">
                <a:solidFill>
                  <a:srgbClr val="F8FAFC"/>
                </a:solidFill>
                <a:latin typeface="Cambria"/>
              </a:rPr>
              <a:t>Refilwe Nkosi</a:t>
            </a:r>
          </a:p>
        </p:txBody>
      </p:sp>
      <p:sp>
        <p:nvSpPr>
          <p:cNvPr id="239" name="TextBox 239"/>
          <p:cNvSpPr txBox="1"/>
          <p:nvPr/>
        </p:nvSpPr>
        <p:spPr>
          <a:xfrm>
            <a:off x="6370320" y="5349240"/>
            <a:ext cx="35000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en-US" sz="1000" b="0">
                <a:solidFill>
                  <a:srgbClr val="94A3B8"/>
                </a:solidFill>
                <a:latin typeface="Calibri"/>
              </a:rPr>
              <a:t>Careers Coach · Independent</a:t>
            </a:r>
          </a:p>
        </p:txBody>
      </p:sp>
      <p:sp>
        <p:nvSpPr>
          <p:cNvPr id="240" name="TextBox 240"/>
          <p:cNvSpPr txBox="1"/>
          <p:nvPr/>
        </p:nvSpPr>
        <p:spPr>
          <a:xfrm>
            <a:off x="9723040" y="49834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lang="en-US" sz="1600" b="1">
                <a:solidFill>
                  <a:srgbClr val="38BDF8"/>
                </a:solidFill>
                <a:latin typeface="Calibri"/>
              </a:rPr>
              <a:t>R300 / hour</a:t>
            </a:r>
          </a:p>
        </p:txBody>
      </p:sp>
      <p:sp>
        <p:nvSpPr>
          <p:cNvPr id="241" name="Card 241"/>
          <p:cNvSpPr/>
          <p:nvPr/>
        </p:nvSpPr>
        <p:spPr>
          <a:xfrm>
            <a:off x="822960" y="5760720"/>
            <a:ext cx="10546080" cy="45720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 w="12700">
            <a:solidFill>
              <a:srgbClr val="38BDF8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2" name="TextBox 242"/>
          <p:cNvSpPr txBox="1"/>
          <p:nvPr/>
        </p:nvSpPr>
        <p:spPr>
          <a:xfrm>
            <a:off x="1005840" y="5760720"/>
            <a:ext cx="1018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lang="en-US" sz="1100" b="0">
                <a:solidFill>
                  <a:srgbClr val="CBD5E1"/>
                </a:solidFill>
                <a:latin typeface="Calibri"/>
              </a:rPr>
              <a:t>Rates are per 60-minute session in ZAR and are prototype values. Price never changes the match score; admins see each rate beside capacity and hours.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Visionaries, continued</a:t>
            </a:r>
            <a:endParaRPr lang="en-US" sz="3200" dirty="0"/>
          </a:p>
        </p:txBody>
      </p:sp>
      <p:sp>
        <p:nvSpPr>
          <p:cNvPr id="29" name="Text 2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MENTORBRIDGE</a:t>
            </a:r>
            <a:endParaRPr lang="en-US" sz="1000" dirty="0"/>
          </a:p>
        </p:txBody>
      </p:sp>
      <p:sp>
        <p:nvSpPr>
          <p:cNvPr id="31" name="TextBox 30"/>
          <p:cNvSpPr txBox="1"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Database, backend and business analysis.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81225" y="2286000"/>
            <a:ext cx="2457450" cy="3291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9870" y="2514600"/>
            <a:ext cx="1280160" cy="128016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hoto Mpho" descr="Portrait of Mph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5590" y="2560320"/>
            <a:ext cx="1188720" cy="1188720"/>
          </a:xfrm>
          <a:prstGeom prst="ellipse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272665" y="3977640"/>
            <a:ext cx="227457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Cambria"/>
              </a:rPr>
              <a:t>Mpho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72665" y="4343400"/>
            <a:ext cx="227457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DB Lead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18385" y="4807640"/>
            <a:ext cx="218313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Database design for users, profiles, matches, sessions, actions and feedback.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67275" y="2286000"/>
            <a:ext cx="2457450" cy="3291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55920" y="2514600"/>
            <a:ext cx="1280160" cy="128016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hoto Ndzalama" descr="Portrait of Ndzalam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1640" y="2560320"/>
            <a:ext cx="1188720" cy="1188720"/>
          </a:xfrm>
          <a:prstGeom prst="ellipse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958715" y="3977640"/>
            <a:ext cx="227457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Cambria"/>
              </a:rPr>
              <a:t>Ndzalama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8715" y="4343400"/>
            <a:ext cx="227457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Backend Lead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04435" y="4807640"/>
            <a:ext cx="218313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Express API, JWT login and the rules behind capacity and scheduling.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53325" y="2286000"/>
            <a:ext cx="2457450" cy="3291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141970" y="2514600"/>
            <a:ext cx="1280160" cy="128016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hoto Tabitha" descr="Portrait of Tabitha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7690" y="2560320"/>
            <a:ext cx="1188720" cy="1188720"/>
          </a:xfrm>
          <a:prstGeom prst="ellipse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644765" y="3977640"/>
            <a:ext cx="227457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Cambria"/>
              </a:rPr>
              <a:t>Tabitha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44765" y="4343400"/>
            <a:ext cx="227457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Business Analyst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0485" y="4807640"/>
            <a:ext cx="218313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Requirements, user stories and acceptance criteria drawn from the challenge brief.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2026-09-22T06:20:41Z</dcterms:created>
  <dcterms:modified xsi:type="dcterms:W3CDTF">2026-09-22T06:20:41Z</dcterms:modified>
</cp:coreProperties>
</file>